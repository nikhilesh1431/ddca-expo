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image" Target="../media/image-4-42.png"/><Relationship Id="rId43" Type="http://schemas.openxmlformats.org/officeDocument/2006/relationships/image" Target="../media/image-4-43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9525000" y="0"/>
            <a:ext cx="8763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0"/>
            <a:ext cx="3810000" cy="10287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905000"/>
            <a:ext cx="114300" cy="4000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619250" y="1866900"/>
            <a:ext cx="7620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LOGIC &amp; COMPUTER ARCHITECTURE PROJECT</a:t>
            </a:r>
            <a:endParaRPr lang="en-US" sz="1950" dirty="0"/>
          </a:p>
        </p:txBody>
      </p:sp>
      <p:sp>
        <p:nvSpPr>
          <p:cNvPr id="6" name="Text 1"/>
          <p:cNvSpPr/>
          <p:nvPr/>
        </p:nvSpPr>
        <p:spPr>
          <a:xfrm>
            <a:off x="1619250" y="2476500"/>
            <a:ext cx="8191500" cy="3124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4-Bit Binary Arithmetic Calculator</a:t>
            </a:r>
            <a:endParaRPr lang="en-US" sz="7800" dirty="0"/>
          </a:p>
        </p:txBody>
      </p:sp>
      <p:sp>
        <p:nvSpPr>
          <p:cNvPr id="7" name="Text 2"/>
          <p:cNvSpPr/>
          <p:nvPr/>
        </p:nvSpPr>
        <p:spPr>
          <a:xfrm>
            <a:off x="1619250" y="5429250"/>
            <a:ext cx="81915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50" dirty="0">
                <a:solidFill>
                  <a:srgbClr val="FBBF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Using Logisim Evolution</a:t>
            </a:r>
            <a:endParaRPr lang="en-US" sz="3450" dirty="0"/>
          </a:p>
        </p:txBody>
      </p:sp>
      <p:sp>
        <p:nvSpPr>
          <p:cNvPr id="8" name="Text 3"/>
          <p:cNvSpPr/>
          <p:nvPr/>
        </p:nvSpPr>
        <p:spPr>
          <a:xfrm>
            <a:off x="1619250" y="6953250"/>
            <a:ext cx="5715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619250" y="7429500"/>
            <a:ext cx="40005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Surya — 2620030573</a:t>
            </a:r>
            <a:endParaRPr lang="en-US" sz="2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K. Vedesh — 2620030383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5715000" y="7429500"/>
            <a:ext cx="41910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V. Praveen — 2620030643</a:t>
            </a:r>
            <a:endParaRPr lang="en-US" sz="2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V. Nikhilesh — 2620030443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1619250" y="9144000"/>
            <a:ext cx="6667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0011 + 0010 = 0101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66750"/>
            <a:ext cx="1143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INTRODUCTION &amp; OBJECTIVES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192500" cy="71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Computers Think in 0s and 1s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762000" y="2476500"/>
            <a:ext cx="7810500" cy="2076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BE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numbers use only two digits: 0 and 1. Computers use them because electronic switches have two clear states — OFF (0) and ON (1). Our 4-bit calculator takes two 4-bit numbers and performs addition and subtraction using only logic gates.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5429250"/>
            <a:ext cx="5715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62000" y="5905500"/>
            <a:ext cx="78105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binary numbers and arithmetic</a:t>
            </a:r>
            <a:endParaRPr lang="en-US" sz="225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how basic logic gates work</a:t>
            </a:r>
            <a:endParaRPr lang="en-US" sz="225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 4-bit adder-subtractor circuit</a:t>
            </a:r>
            <a:endParaRPr lang="en-US" sz="225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and test it in Logisim Evolution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334500" y="2381250"/>
            <a:ext cx="8191500" cy="609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15500" y="2667000"/>
            <a:ext cx="7429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 →  PROCESS  →  OUTPUT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3714750"/>
            <a:ext cx="1905000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15500" y="3952875"/>
            <a:ext cx="1905000" cy="647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A</a:t>
            </a:r>
            <a:endParaRPr lang="en-US" sz="1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(4-bit)</a:t>
            </a:r>
            <a:endParaRPr lang="en-US" sz="1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6000750"/>
            <a:ext cx="1905000" cy="1143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5500" y="6238875"/>
            <a:ext cx="1905000" cy="647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B</a:t>
            </a:r>
            <a:endParaRPr lang="en-US" sz="1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(4-bit)</a:t>
            </a:r>
            <a:endParaRPr lang="en-US" sz="1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0" y="4000500"/>
            <a:ext cx="2190750" cy="2857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668250" y="4762500"/>
            <a:ext cx="2000250" cy="1390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612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Arithmetic Circuit</a:t>
            </a:r>
            <a:endParaRPr lang="en-US" sz="2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612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(Add / Subtract)</a:t>
            </a:r>
            <a:endParaRPr lang="en-US" sz="2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1000" y="4000500"/>
            <a:ext cx="1619250" cy="1047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621000" y="4191000"/>
            <a:ext cx="16192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(4-bit)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1000" y="5810250"/>
            <a:ext cx="1619250" cy="10477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5621000" y="6000750"/>
            <a:ext cx="16192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(1-bit)</a:t>
            </a:r>
            <a:endParaRPr lang="en-US" sz="18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39550" y="4514850"/>
            <a:ext cx="914400" cy="15240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39550" y="6324600"/>
            <a:ext cx="914400" cy="152400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82800" y="4467225"/>
            <a:ext cx="819150" cy="152400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82800" y="6276975"/>
            <a:ext cx="819150" cy="1524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9715500" y="7524750"/>
            <a:ext cx="7429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4-bit numbers enter, the circuit computes, and a 4-bit result plus carry comes out.</a:t>
            </a:r>
            <a:endParaRPr lang="en-US" sz="1800" dirty="0"/>
          </a:p>
        </p:txBody>
      </p:sp>
      <p:sp>
        <p:nvSpPr>
          <p:cNvPr id="24" name="Text 12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THEORY &amp; LOGIC CIRCUIT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161925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Gates → Half Adder → Full Adder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2190750"/>
            <a:ext cx="7239000" cy="4000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571750"/>
            <a:ext cx="952500" cy="666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0" y="2552700"/>
            <a:ext cx="20955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AND: output 1 only if all inputs are 1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71750"/>
            <a:ext cx="952500" cy="666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0" y="2552700"/>
            <a:ext cx="20955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OR: output 1 if any input is 1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810000"/>
            <a:ext cx="762000" cy="6667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048125"/>
            <a:ext cx="190500" cy="1905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286000" y="3790950"/>
            <a:ext cx="20955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NOT: flips the input (0→1, 1→0)</a:t>
            </a:r>
            <a:endParaRPr lang="en-US" sz="15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050" y="3810000"/>
            <a:ext cx="114300" cy="6667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4400" y="3810000"/>
            <a:ext cx="914400" cy="66675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5810250" y="3790950"/>
            <a:ext cx="20955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XOR: output 1 if inputs differ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1143000" y="4857750"/>
            <a:ext cx="65722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Subtraction uses two's complement: A − B = A + (NOT B) + 1. Inverting B and adding 1 lets the same adder subtract.</a:t>
            </a:r>
            <a:endParaRPr lang="en-US" sz="165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8572500" y="2190750"/>
            <a:ext cx="8953500" cy="28575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858250" y="2333625"/>
            <a:ext cx="2857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ADDER</a:t>
            </a:r>
            <a:endParaRPr lang="en-US" sz="1650" dirty="0"/>
          </a:p>
        </p:txBody>
      </p:sp>
      <p:sp>
        <p:nvSpPr>
          <p:cNvPr id="18" name="Text 8"/>
          <p:cNvSpPr/>
          <p:nvPr/>
        </p:nvSpPr>
        <p:spPr>
          <a:xfrm>
            <a:off x="8858250" y="2905125"/>
            <a:ext cx="38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800" dirty="0"/>
          </a:p>
        </p:txBody>
      </p:sp>
      <p:sp>
        <p:nvSpPr>
          <p:cNvPr id="19" name="Text 9"/>
          <p:cNvSpPr/>
          <p:nvPr/>
        </p:nvSpPr>
        <p:spPr>
          <a:xfrm>
            <a:off x="8858250" y="4238625"/>
            <a:ext cx="38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8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0" y="3005138"/>
            <a:ext cx="1238250" cy="114300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4338638"/>
            <a:ext cx="1238250" cy="114300"/>
          </a:xfrm>
          <a:prstGeom prst="rect">
            <a:avLst/>
          </a:prstGeom>
        </p:spPr>
      </p:pic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0250" y="3048000"/>
            <a:ext cx="28575" cy="1123950"/>
          </a:xfrm>
          <a:prstGeom prst="rect">
            <a:avLst/>
          </a:prstGeom>
        </p:spPr>
      </p:pic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0" y="3286125"/>
            <a:ext cx="28575" cy="1095375"/>
          </a:xfrm>
          <a:prstGeom prst="rect">
            <a:avLst/>
          </a:prstGeom>
        </p:spPr>
      </p:pic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06000" y="3286125"/>
            <a:ext cx="476250" cy="28575"/>
          </a:xfrm>
          <a:prstGeom prst="rect">
            <a:avLst/>
          </a:prstGeom>
        </p:spPr>
      </p:pic>
      <p:pic>
        <p:nvPicPr>
          <p:cNvPr id="2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20250" y="4171950"/>
            <a:ext cx="762000" cy="28575"/>
          </a:xfrm>
          <a:prstGeom prst="rect">
            <a:avLst/>
          </a:prstGeom>
        </p:spPr>
      </p:pic>
      <p:pic>
        <p:nvPicPr>
          <p:cNvPr id="2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25100" y="2876550"/>
            <a:ext cx="95250" cy="571500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39400" y="2876550"/>
            <a:ext cx="857250" cy="571500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82250" y="4000500"/>
            <a:ext cx="857250" cy="571500"/>
          </a:xfrm>
          <a:prstGeom prst="rect">
            <a:avLst/>
          </a:prstGeom>
        </p:spPr>
      </p:pic>
      <p:pic>
        <p:nvPicPr>
          <p:cNvPr id="2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96650" y="3119438"/>
            <a:ext cx="952500" cy="114300"/>
          </a:xfrm>
          <a:prstGeom prst="rect">
            <a:avLst/>
          </a:prstGeom>
        </p:spPr>
      </p:pic>
      <p:pic>
        <p:nvPicPr>
          <p:cNvPr id="3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239500" y="4243388"/>
            <a:ext cx="1009650" cy="114300"/>
          </a:xfrm>
          <a:prstGeom prst="rect">
            <a:avLst/>
          </a:prstGeom>
        </p:spPr>
      </p:pic>
      <p:sp>
        <p:nvSpPr>
          <p:cNvPr id="31" name="Text 10"/>
          <p:cNvSpPr/>
          <p:nvPr/>
        </p:nvSpPr>
        <p:spPr>
          <a:xfrm>
            <a:off x="12334875" y="3009900"/>
            <a:ext cx="10477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</a:t>
            </a:r>
            <a:endParaRPr lang="en-US" sz="1800" dirty="0"/>
          </a:p>
        </p:txBody>
      </p:sp>
      <p:sp>
        <p:nvSpPr>
          <p:cNvPr id="32" name="Text 11"/>
          <p:cNvSpPr/>
          <p:nvPr/>
        </p:nvSpPr>
        <p:spPr>
          <a:xfrm>
            <a:off x="12334875" y="4133850"/>
            <a:ext cx="10477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</a:t>
            </a:r>
            <a:endParaRPr lang="en-US" sz="1800" dirty="0"/>
          </a:p>
        </p:txBody>
      </p:sp>
      <p:sp>
        <p:nvSpPr>
          <p:cNvPr id="33" name="Text 12"/>
          <p:cNvSpPr/>
          <p:nvPr/>
        </p:nvSpPr>
        <p:spPr>
          <a:xfrm>
            <a:off x="13620750" y="3048000"/>
            <a:ext cx="3714750" cy="103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550" b="1" dirty="0">
                <a:solidFill>
                  <a:srgbClr val="FBBF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Sum = A ⊕ B</a:t>
            </a:r>
            <a:endParaRPr lang="en-US" sz="25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2550" b="1" dirty="0">
                <a:solidFill>
                  <a:srgbClr val="FBBF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Carry = A · B</a:t>
            </a:r>
            <a:endParaRPr lang="en-US" sz="2550" dirty="0"/>
          </a:p>
        </p:txBody>
      </p:sp>
      <p:pic>
        <p:nvPicPr>
          <p:cNvPr id="34" name="Image 19" descr="preencoded.png">    </p:cNvPr>
          <p:cNvPicPr>
            <a:picLocks noChangeAspect="1"/>
          </p:cNvPicPr>
          <p:nvPr/>
        </p:nvPicPr>
        <p:blipFill>
          <a:blip r:embed="rId21">
            <a:alphaModFix amt="80000"/>
          </a:blip>
          <a:stretch>
            <a:fillRect/>
          </a:stretch>
        </p:blipFill>
        <p:spPr>
          <a:xfrm>
            <a:off x="8572500" y="5334000"/>
            <a:ext cx="8953500" cy="3810000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8858250" y="5476875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ADDER = 2 HALF ADDERS + OR</a:t>
            </a:r>
            <a:endParaRPr lang="en-US" sz="1650" dirty="0"/>
          </a:p>
        </p:txBody>
      </p:sp>
      <p:sp>
        <p:nvSpPr>
          <p:cNvPr id="36" name="Text 14"/>
          <p:cNvSpPr/>
          <p:nvPr/>
        </p:nvSpPr>
        <p:spPr>
          <a:xfrm>
            <a:off x="8810625" y="6096000"/>
            <a:ext cx="571500" cy="733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800" dirty="0"/>
          </a:p>
        </p:txBody>
      </p:sp>
      <p:sp>
        <p:nvSpPr>
          <p:cNvPr id="37" name="Text 15"/>
          <p:cNvSpPr/>
          <p:nvPr/>
        </p:nvSpPr>
        <p:spPr>
          <a:xfrm>
            <a:off x="8810625" y="7762875"/>
            <a:ext cx="571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</a:t>
            </a:r>
            <a:endParaRPr lang="en-US" sz="1650" dirty="0"/>
          </a:p>
        </p:txBody>
      </p:sp>
      <p:pic>
        <p:nvPicPr>
          <p:cNvPr id="38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9250" y="6224588"/>
            <a:ext cx="571500" cy="114300"/>
          </a:xfrm>
          <a:prstGeom prst="rect">
            <a:avLst/>
          </a:prstGeom>
        </p:spPr>
      </p:pic>
      <p:pic>
        <p:nvPicPr>
          <p:cNvPr id="39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39250" y="6586538"/>
            <a:ext cx="571500" cy="114300"/>
          </a:xfrm>
          <a:prstGeom prst="rect">
            <a:avLst/>
          </a:prstGeom>
        </p:spPr>
      </p:pic>
      <p:pic>
        <p:nvPicPr>
          <p:cNvPr id="40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10750" y="6000750"/>
            <a:ext cx="1238250" cy="952500"/>
          </a:xfrm>
          <a:prstGeom prst="rect">
            <a:avLst/>
          </a:prstGeom>
        </p:spPr>
      </p:pic>
      <p:sp>
        <p:nvSpPr>
          <p:cNvPr id="41" name="Text 16"/>
          <p:cNvSpPr/>
          <p:nvPr/>
        </p:nvSpPr>
        <p:spPr>
          <a:xfrm>
            <a:off x="9810750" y="6305550"/>
            <a:ext cx="12382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 1</a:t>
            </a:r>
            <a:endParaRPr lang="en-US" sz="1950" dirty="0"/>
          </a:p>
        </p:txBody>
      </p:sp>
      <p:pic>
        <p:nvPicPr>
          <p:cNvPr id="42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049000" y="6224588"/>
            <a:ext cx="571500" cy="114300"/>
          </a:xfrm>
          <a:prstGeom prst="rect">
            <a:avLst/>
          </a:prstGeom>
        </p:spPr>
      </p:pic>
      <p:sp>
        <p:nvSpPr>
          <p:cNvPr id="43" name="Text 17"/>
          <p:cNvSpPr/>
          <p:nvPr/>
        </p:nvSpPr>
        <p:spPr>
          <a:xfrm>
            <a:off x="10953750" y="5905500"/>
            <a:ext cx="857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6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A⊕B</a:t>
            </a:r>
            <a:endParaRPr lang="en-US" sz="1500" dirty="0"/>
          </a:p>
        </p:txBody>
      </p:sp>
      <p:pic>
        <p:nvPicPr>
          <p:cNvPr id="44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39250" y="7862888"/>
            <a:ext cx="2381250" cy="114300"/>
          </a:xfrm>
          <a:prstGeom prst="rect">
            <a:avLst/>
          </a:prstGeom>
        </p:spPr>
      </p:pic>
      <p:pic>
        <p:nvPicPr>
          <p:cNvPr id="45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620500" y="6000750"/>
            <a:ext cx="1238250" cy="2190750"/>
          </a:xfrm>
          <a:prstGeom prst="rect">
            <a:avLst/>
          </a:prstGeom>
        </p:spPr>
      </p:pic>
      <p:sp>
        <p:nvSpPr>
          <p:cNvPr id="46" name="Text 18"/>
          <p:cNvSpPr/>
          <p:nvPr/>
        </p:nvSpPr>
        <p:spPr>
          <a:xfrm>
            <a:off x="11620500" y="6924675"/>
            <a:ext cx="12382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 2</a:t>
            </a:r>
            <a:endParaRPr lang="en-US" sz="1950" dirty="0"/>
          </a:p>
        </p:txBody>
      </p:sp>
      <p:pic>
        <p:nvPicPr>
          <p:cNvPr id="47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858750" y="6224588"/>
            <a:ext cx="1333500" cy="114300"/>
          </a:xfrm>
          <a:prstGeom prst="rect">
            <a:avLst/>
          </a:prstGeom>
        </p:spPr>
      </p:pic>
      <p:sp>
        <p:nvSpPr>
          <p:cNvPr id="48" name="Text 19"/>
          <p:cNvSpPr/>
          <p:nvPr/>
        </p:nvSpPr>
        <p:spPr>
          <a:xfrm>
            <a:off x="14268450" y="6115050"/>
            <a:ext cx="762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</a:t>
            </a:r>
            <a:endParaRPr lang="en-US" sz="1800" dirty="0"/>
          </a:p>
        </p:txBody>
      </p:sp>
      <p:pic>
        <p:nvPicPr>
          <p:cNvPr id="4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29875" y="6953250"/>
            <a:ext cx="28575" cy="1524000"/>
          </a:xfrm>
          <a:prstGeom prst="rect">
            <a:avLst/>
          </a:prstGeom>
        </p:spPr>
      </p:pic>
      <p:pic>
        <p:nvPicPr>
          <p:cNvPr id="5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429875" y="8434388"/>
            <a:ext cx="2857500" cy="114300"/>
          </a:xfrm>
          <a:prstGeom prst="rect">
            <a:avLst/>
          </a:prstGeom>
        </p:spPr>
      </p:pic>
      <p:pic>
        <p:nvPicPr>
          <p:cNvPr id="51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858750" y="8005763"/>
            <a:ext cx="428625" cy="114300"/>
          </a:xfrm>
          <a:prstGeom prst="rect">
            <a:avLst/>
          </a:prstGeom>
        </p:spPr>
      </p:pic>
      <p:pic>
        <p:nvPicPr>
          <p:cNvPr id="52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287375" y="7905750"/>
            <a:ext cx="857250" cy="723900"/>
          </a:xfrm>
          <a:prstGeom prst="rect">
            <a:avLst/>
          </a:prstGeom>
        </p:spPr>
      </p:pic>
      <p:pic>
        <p:nvPicPr>
          <p:cNvPr id="53" name="Image 31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144625" y="8215313"/>
            <a:ext cx="381000" cy="114300"/>
          </a:xfrm>
          <a:prstGeom prst="rect">
            <a:avLst/>
          </a:prstGeom>
        </p:spPr>
      </p:pic>
      <p:sp>
        <p:nvSpPr>
          <p:cNvPr id="54" name="Text 20"/>
          <p:cNvSpPr/>
          <p:nvPr/>
        </p:nvSpPr>
        <p:spPr>
          <a:xfrm>
            <a:off x="14573250" y="8115300"/>
            <a:ext cx="952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Cout</a:t>
            </a:r>
            <a:endParaRPr lang="en-US" sz="1800" dirty="0"/>
          </a:p>
        </p:txBody>
      </p:sp>
      <p:sp>
        <p:nvSpPr>
          <p:cNvPr id="55" name="Text 21"/>
          <p:cNvSpPr/>
          <p:nvPr/>
        </p:nvSpPr>
        <p:spPr>
          <a:xfrm>
            <a:off x="15144750" y="6667500"/>
            <a:ext cx="22860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Sum = A ⊕ B ⊕ Cin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Cout = A·B + Cin·(A ⊕ B)</a:t>
            </a:r>
            <a:endParaRPr lang="en-US" sz="1500" dirty="0"/>
          </a:p>
        </p:txBody>
      </p:sp>
      <p:sp>
        <p:nvSpPr>
          <p:cNvPr id="56" name="Text 22"/>
          <p:cNvSpPr/>
          <p:nvPr/>
        </p:nvSpPr>
        <p:spPr>
          <a:xfrm>
            <a:off x="762000" y="6572250"/>
            <a:ext cx="7239000" cy="1533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adder adds two bits, giving Sum and Carry</a:t>
            </a:r>
            <a:endParaRPr lang="en-US" sz="1950" dirty="0"/>
          </a:p>
          <a:p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adder adds A, B and an incoming carry (Cin)</a:t>
            </a:r>
            <a:endParaRPr lang="en-US" sz="1950" dirty="0"/>
          </a:p>
          <a:p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HA1 carry and HA2 carry are ORed to form Cout</a:t>
            </a:r>
            <a:endParaRPr lang="en-US" sz="1950" dirty="0"/>
          </a:p>
          <a:p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Chaining full adders adds multi-bit numbers</a:t>
            </a:r>
            <a:endParaRPr lang="en-US" sz="1950" dirty="0"/>
          </a:p>
        </p:txBody>
      </p:sp>
      <p:sp>
        <p:nvSpPr>
          <p:cNvPr id="57" name="Text 23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CIRCUIT DESIGN IN LOGISIM EVOLUTION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161925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4-Bit Adder-Subtractor Schematic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2095500"/>
            <a:ext cx="12001500" cy="7048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00" y="2190750"/>
            <a:ext cx="419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CONTROL M WORKS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335000" y="2667000"/>
            <a:ext cx="4191000" cy="1857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= 0: B ⊕ 0 = B and C0 = 0, so the circuit adds A + B</a:t>
            </a:r>
            <a:endParaRPr lang="en-US" sz="195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= 1: B ⊕ 1 = NOT B and C0 = 1, so it computes A + NOT B + 1 = A − B (two's complement)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3335000" y="6096000"/>
            <a:ext cx="4191000" cy="304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620750" y="6286500"/>
            <a:ext cx="3619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/ SUBTRACT CONTROL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0" y="7048500"/>
            <a:ext cx="1047750" cy="762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620750" y="7258050"/>
            <a:ext cx="1047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2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8500" y="7386638"/>
            <a:ext cx="666750" cy="11430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5250" y="6858000"/>
            <a:ext cx="1905000" cy="1143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382875" y="7048500"/>
            <a:ext cx="18097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XOR on B bits</a:t>
            </a:r>
            <a:endParaRPr lang="en-US" sz="16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Carry-in C0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13620750" y="8286750"/>
            <a:ext cx="37147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 → Add  |  1 → Subtract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06</a:t>
            </a:r>
            <a:endParaRPr lang="en-US" sz="1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20550" y="3219450"/>
            <a:ext cx="533400" cy="4191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020550" y="3286125"/>
            <a:ext cx="5334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11334750" y="2857500"/>
            <a:ext cx="12382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Add/Sub</a:t>
            </a:r>
            <a:endParaRPr lang="en-US" sz="15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6625" y="3419475"/>
            <a:ext cx="8543925" cy="28575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0963275" y="4953000"/>
            <a:ext cx="2647950" cy="28575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49100" y="6234113"/>
            <a:ext cx="447675" cy="1143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1868150" y="6400800"/>
            <a:ext cx="857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 = M</a:t>
            </a:r>
            <a:endParaRPr lang="en-US" sz="1350" dirty="0"/>
          </a:p>
        </p:txBody>
      </p:sp>
      <p:sp>
        <p:nvSpPr>
          <p:cNvPr id="23" name="Text 12"/>
          <p:cNvSpPr/>
          <p:nvPr/>
        </p:nvSpPr>
        <p:spPr>
          <a:xfrm>
            <a:off x="238125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1500" dirty="0"/>
          </a:p>
        </p:txBody>
      </p:sp>
      <p:sp>
        <p:nvSpPr>
          <p:cNvPr id="24" name="Text 13"/>
          <p:cNvSpPr/>
          <p:nvPr/>
        </p:nvSpPr>
        <p:spPr>
          <a:xfrm>
            <a:off x="304800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</a:t>
            </a:r>
            <a:endParaRPr lang="en-US" sz="15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019175" y="4090987"/>
            <a:ext cx="3105150" cy="114300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2533650" y="3243263"/>
            <a:ext cx="1409700" cy="11430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3228975" y="3671888"/>
            <a:ext cx="590550" cy="114300"/>
          </a:xfrm>
          <a:prstGeom prst="rect">
            <a:avLst/>
          </a:prstGeom>
        </p:spPr>
      </p:pic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00375" y="4000500"/>
            <a:ext cx="762000" cy="647700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2857500" y="5119688"/>
            <a:ext cx="1047750" cy="114300"/>
          </a:xfrm>
          <a:prstGeom prst="rect">
            <a:avLst/>
          </a:prstGeom>
        </p:spPr>
      </p:pic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95500" y="5715000"/>
            <a:ext cx="1714500" cy="1143000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2095500" y="6115050"/>
            <a:ext cx="1714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FA3</a:t>
            </a:r>
            <a:endParaRPr lang="en-US" sz="2250" dirty="0"/>
          </a:p>
        </p:txBody>
      </p:sp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2628900" y="7129463"/>
            <a:ext cx="647700" cy="114300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2667000" y="7600950"/>
            <a:ext cx="57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</a:t>
            </a:r>
            <a:endParaRPr lang="en-US" sz="1800" dirty="0"/>
          </a:p>
        </p:txBody>
      </p:sp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2050" y="6234113"/>
            <a:ext cx="914400" cy="114300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1066800" y="5924550"/>
            <a:ext cx="952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Cout</a:t>
            </a:r>
            <a:endParaRPr lang="en-US" sz="1500" dirty="0"/>
          </a:p>
        </p:txBody>
      </p:sp>
      <p:sp>
        <p:nvSpPr>
          <p:cNvPr id="36" name="Text 17"/>
          <p:cNvSpPr/>
          <p:nvPr/>
        </p:nvSpPr>
        <p:spPr>
          <a:xfrm>
            <a:off x="504825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1500" dirty="0"/>
          </a:p>
        </p:txBody>
      </p:sp>
      <p:sp>
        <p:nvSpPr>
          <p:cNvPr id="37" name="Text 18"/>
          <p:cNvSpPr/>
          <p:nvPr/>
        </p:nvSpPr>
        <p:spPr>
          <a:xfrm>
            <a:off x="571500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</a:t>
            </a:r>
            <a:endParaRPr lang="en-US" sz="1500" dirty="0"/>
          </a:p>
        </p:txBody>
      </p:sp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3686175" y="4090987"/>
            <a:ext cx="3105150" cy="114300"/>
          </a:xfrm>
          <a:prstGeom prst="rect">
            <a:avLst/>
          </a:prstGeom>
        </p:spPr>
      </p:pic>
      <p:pic>
        <p:nvPicPr>
          <p:cNvPr id="39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5200650" y="3243263"/>
            <a:ext cx="1409700" cy="114300"/>
          </a:xfrm>
          <a:prstGeom prst="rect">
            <a:avLst/>
          </a:prstGeom>
        </p:spPr>
      </p:pic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5895975" y="3671888"/>
            <a:ext cx="590550" cy="114300"/>
          </a:xfrm>
          <a:prstGeom prst="rect">
            <a:avLst/>
          </a:prstGeom>
        </p:spPr>
      </p:pic>
      <p:pic>
        <p:nvPicPr>
          <p:cNvPr id="41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67375" y="4000500"/>
            <a:ext cx="762000" cy="647700"/>
          </a:xfrm>
          <a:prstGeom prst="rect">
            <a:avLst/>
          </a:prstGeom>
        </p:spPr>
      </p:pic>
      <p:pic>
        <p:nvPicPr>
          <p:cNvPr id="42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5400000">
            <a:off x="5524500" y="5119688"/>
            <a:ext cx="1047750" cy="114300"/>
          </a:xfrm>
          <a:prstGeom prst="rect">
            <a:avLst/>
          </a:prstGeom>
        </p:spPr>
      </p:pic>
      <p:pic>
        <p:nvPicPr>
          <p:cNvPr id="43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62500" y="5715000"/>
            <a:ext cx="1714500" cy="1143000"/>
          </a:xfrm>
          <a:prstGeom prst="rect">
            <a:avLst/>
          </a:prstGeom>
        </p:spPr>
      </p:pic>
      <p:sp>
        <p:nvSpPr>
          <p:cNvPr id="44" name="Text 19"/>
          <p:cNvSpPr/>
          <p:nvPr/>
        </p:nvSpPr>
        <p:spPr>
          <a:xfrm>
            <a:off x="4762500" y="6115050"/>
            <a:ext cx="1714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FA2</a:t>
            </a:r>
            <a:endParaRPr lang="en-US" sz="2250" dirty="0"/>
          </a:p>
        </p:txBody>
      </p:sp>
      <p:pic>
        <p:nvPicPr>
          <p:cNvPr id="4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5400000">
            <a:off x="5295900" y="7129463"/>
            <a:ext cx="647700" cy="114300"/>
          </a:xfrm>
          <a:prstGeom prst="rect">
            <a:avLst/>
          </a:prstGeom>
        </p:spPr>
      </p:pic>
      <p:sp>
        <p:nvSpPr>
          <p:cNvPr id="46" name="Text 20"/>
          <p:cNvSpPr/>
          <p:nvPr/>
        </p:nvSpPr>
        <p:spPr>
          <a:xfrm>
            <a:off x="5334000" y="7600950"/>
            <a:ext cx="57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S2</a:t>
            </a:r>
            <a:endParaRPr lang="en-US" sz="1800" dirty="0"/>
          </a:p>
        </p:txBody>
      </p:sp>
      <p:pic>
        <p:nvPicPr>
          <p:cNvPr id="47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29050" y="6234113"/>
            <a:ext cx="914400" cy="114300"/>
          </a:xfrm>
          <a:prstGeom prst="rect">
            <a:avLst/>
          </a:prstGeom>
        </p:spPr>
      </p:pic>
      <p:sp>
        <p:nvSpPr>
          <p:cNvPr id="48" name="Text 21"/>
          <p:cNvSpPr/>
          <p:nvPr/>
        </p:nvSpPr>
        <p:spPr>
          <a:xfrm>
            <a:off x="4000500" y="5953125"/>
            <a:ext cx="571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C3</a:t>
            </a:r>
            <a:endParaRPr lang="en-US" sz="1500" dirty="0"/>
          </a:p>
        </p:txBody>
      </p:sp>
      <p:sp>
        <p:nvSpPr>
          <p:cNvPr id="49" name="Text 22"/>
          <p:cNvSpPr/>
          <p:nvPr/>
        </p:nvSpPr>
        <p:spPr>
          <a:xfrm>
            <a:off x="771525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1500" dirty="0"/>
          </a:p>
        </p:txBody>
      </p:sp>
      <p:sp>
        <p:nvSpPr>
          <p:cNvPr id="50" name="Text 23"/>
          <p:cNvSpPr/>
          <p:nvPr/>
        </p:nvSpPr>
        <p:spPr>
          <a:xfrm>
            <a:off x="838200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</a:t>
            </a:r>
            <a:endParaRPr lang="en-US" sz="1500" dirty="0"/>
          </a:p>
        </p:txBody>
      </p:sp>
      <p:pic>
        <p:nvPicPr>
          <p:cNvPr id="51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5400000">
            <a:off x="6353175" y="4090987"/>
            <a:ext cx="3105150" cy="114300"/>
          </a:xfrm>
          <a:prstGeom prst="rect">
            <a:avLst/>
          </a:prstGeom>
        </p:spPr>
      </p:pic>
      <p:pic>
        <p:nvPicPr>
          <p:cNvPr id="52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5400000">
            <a:off x="7867650" y="3243263"/>
            <a:ext cx="1409700" cy="114300"/>
          </a:xfrm>
          <a:prstGeom prst="rect">
            <a:avLst/>
          </a:prstGeom>
        </p:spPr>
      </p:pic>
      <p:pic>
        <p:nvPicPr>
          <p:cNvPr id="53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5400000">
            <a:off x="8562975" y="3671888"/>
            <a:ext cx="590550" cy="114300"/>
          </a:xfrm>
          <a:prstGeom prst="rect">
            <a:avLst/>
          </a:prstGeom>
        </p:spPr>
      </p:pic>
      <p:pic>
        <p:nvPicPr>
          <p:cNvPr id="54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34375" y="4000500"/>
            <a:ext cx="762000" cy="647700"/>
          </a:xfrm>
          <a:prstGeom prst="rect">
            <a:avLst/>
          </a:prstGeom>
        </p:spPr>
      </p:pic>
      <p:pic>
        <p:nvPicPr>
          <p:cNvPr id="55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5400000">
            <a:off x="8191500" y="5119688"/>
            <a:ext cx="1047750" cy="114300"/>
          </a:xfrm>
          <a:prstGeom prst="rect">
            <a:avLst/>
          </a:prstGeom>
        </p:spPr>
      </p:pic>
      <p:pic>
        <p:nvPicPr>
          <p:cNvPr id="56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29500" y="5715000"/>
            <a:ext cx="1714500" cy="1143000"/>
          </a:xfrm>
          <a:prstGeom prst="rect">
            <a:avLst/>
          </a:prstGeom>
        </p:spPr>
      </p:pic>
      <p:sp>
        <p:nvSpPr>
          <p:cNvPr id="57" name="Text 24"/>
          <p:cNvSpPr/>
          <p:nvPr/>
        </p:nvSpPr>
        <p:spPr>
          <a:xfrm>
            <a:off x="7429500" y="6115050"/>
            <a:ext cx="1714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FA1</a:t>
            </a:r>
            <a:endParaRPr lang="en-US" sz="2250" dirty="0"/>
          </a:p>
        </p:txBody>
      </p:sp>
      <p:pic>
        <p:nvPicPr>
          <p:cNvPr id="58" name="Image 31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5400000">
            <a:off x="7962900" y="7129463"/>
            <a:ext cx="647700" cy="114300"/>
          </a:xfrm>
          <a:prstGeom prst="rect">
            <a:avLst/>
          </a:prstGeom>
        </p:spPr>
      </p:pic>
      <p:sp>
        <p:nvSpPr>
          <p:cNvPr id="59" name="Text 25"/>
          <p:cNvSpPr/>
          <p:nvPr/>
        </p:nvSpPr>
        <p:spPr>
          <a:xfrm>
            <a:off x="8001000" y="7600950"/>
            <a:ext cx="57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</a:t>
            </a:r>
            <a:endParaRPr lang="en-US" sz="1800" dirty="0"/>
          </a:p>
        </p:txBody>
      </p:sp>
      <p:pic>
        <p:nvPicPr>
          <p:cNvPr id="60" name="Image 32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96050" y="6234113"/>
            <a:ext cx="914400" cy="114300"/>
          </a:xfrm>
          <a:prstGeom prst="rect">
            <a:avLst/>
          </a:prstGeom>
        </p:spPr>
      </p:pic>
      <p:sp>
        <p:nvSpPr>
          <p:cNvPr id="61" name="Text 26"/>
          <p:cNvSpPr/>
          <p:nvPr/>
        </p:nvSpPr>
        <p:spPr>
          <a:xfrm>
            <a:off x="6667500" y="5953125"/>
            <a:ext cx="571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C2</a:t>
            </a:r>
            <a:endParaRPr lang="en-US" sz="1500" dirty="0"/>
          </a:p>
        </p:txBody>
      </p:sp>
      <p:sp>
        <p:nvSpPr>
          <p:cNvPr id="62" name="Text 27"/>
          <p:cNvSpPr/>
          <p:nvPr/>
        </p:nvSpPr>
        <p:spPr>
          <a:xfrm>
            <a:off x="1038225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</a:t>
            </a:r>
            <a:endParaRPr lang="en-US" sz="1500" dirty="0"/>
          </a:p>
        </p:txBody>
      </p:sp>
      <p:sp>
        <p:nvSpPr>
          <p:cNvPr id="63" name="Text 28"/>
          <p:cNvSpPr/>
          <p:nvPr/>
        </p:nvSpPr>
        <p:spPr>
          <a:xfrm>
            <a:off x="1104900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</a:t>
            </a:r>
            <a:endParaRPr lang="en-US" sz="1500" dirty="0"/>
          </a:p>
        </p:txBody>
      </p:sp>
      <p:pic>
        <p:nvPicPr>
          <p:cNvPr id="64" name="Image 33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9020175" y="4090987"/>
            <a:ext cx="3105150" cy="114300"/>
          </a:xfrm>
          <a:prstGeom prst="rect">
            <a:avLst/>
          </a:prstGeom>
        </p:spPr>
      </p:pic>
      <p:pic>
        <p:nvPicPr>
          <p:cNvPr id="65" name="Image 34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5400000">
            <a:off x="10534650" y="3243263"/>
            <a:ext cx="1409700" cy="114300"/>
          </a:xfrm>
          <a:prstGeom prst="rect">
            <a:avLst/>
          </a:prstGeom>
        </p:spPr>
      </p:pic>
      <p:pic>
        <p:nvPicPr>
          <p:cNvPr id="66" name="Image 35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5400000">
            <a:off x="11229975" y="3671888"/>
            <a:ext cx="590550" cy="114300"/>
          </a:xfrm>
          <a:prstGeom prst="rect">
            <a:avLst/>
          </a:prstGeom>
        </p:spPr>
      </p:pic>
      <p:pic>
        <p:nvPicPr>
          <p:cNvPr id="67" name="Image 36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001375" y="4000500"/>
            <a:ext cx="762000" cy="647700"/>
          </a:xfrm>
          <a:prstGeom prst="rect">
            <a:avLst/>
          </a:prstGeom>
        </p:spPr>
      </p:pic>
      <p:pic>
        <p:nvPicPr>
          <p:cNvPr id="68" name="Image 37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5400000">
            <a:off x="10858500" y="5119688"/>
            <a:ext cx="1047750" cy="114300"/>
          </a:xfrm>
          <a:prstGeom prst="rect">
            <a:avLst/>
          </a:prstGeom>
        </p:spPr>
      </p:pic>
      <p:pic>
        <p:nvPicPr>
          <p:cNvPr id="69" name="Image 38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096500" y="5715000"/>
            <a:ext cx="1714500" cy="1143000"/>
          </a:xfrm>
          <a:prstGeom prst="rect">
            <a:avLst/>
          </a:prstGeom>
        </p:spPr>
      </p:pic>
      <p:sp>
        <p:nvSpPr>
          <p:cNvPr id="70" name="Text 29"/>
          <p:cNvSpPr/>
          <p:nvPr/>
        </p:nvSpPr>
        <p:spPr>
          <a:xfrm>
            <a:off x="10096500" y="6115050"/>
            <a:ext cx="1714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FA0</a:t>
            </a:r>
            <a:endParaRPr lang="en-US" sz="2250" dirty="0"/>
          </a:p>
        </p:txBody>
      </p:sp>
      <p:pic>
        <p:nvPicPr>
          <p:cNvPr id="71" name="Image 39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5400000">
            <a:off x="10629900" y="7129463"/>
            <a:ext cx="647700" cy="114300"/>
          </a:xfrm>
          <a:prstGeom prst="rect">
            <a:avLst/>
          </a:prstGeom>
        </p:spPr>
      </p:pic>
      <p:sp>
        <p:nvSpPr>
          <p:cNvPr id="72" name="Text 30"/>
          <p:cNvSpPr/>
          <p:nvPr/>
        </p:nvSpPr>
        <p:spPr>
          <a:xfrm>
            <a:off x="10668000" y="7600950"/>
            <a:ext cx="57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</a:t>
            </a:r>
            <a:endParaRPr lang="en-US" sz="1800" dirty="0"/>
          </a:p>
        </p:txBody>
      </p:sp>
      <p:pic>
        <p:nvPicPr>
          <p:cNvPr id="73" name="Image 40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163050" y="6234113"/>
            <a:ext cx="914400" cy="114300"/>
          </a:xfrm>
          <a:prstGeom prst="rect">
            <a:avLst/>
          </a:prstGeom>
        </p:spPr>
      </p:pic>
      <p:sp>
        <p:nvSpPr>
          <p:cNvPr id="74" name="Text 31"/>
          <p:cNvSpPr/>
          <p:nvPr/>
        </p:nvSpPr>
        <p:spPr>
          <a:xfrm>
            <a:off x="9334500" y="5953125"/>
            <a:ext cx="571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C1</a:t>
            </a:r>
            <a:endParaRPr lang="en-US" sz="1500" dirty="0"/>
          </a:p>
        </p:txBody>
      </p:sp>
      <p:pic>
        <p:nvPicPr>
          <p:cNvPr id="75" name="Image 41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657475" y="7991475"/>
            <a:ext cx="8782050" cy="76200"/>
          </a:xfrm>
          <a:prstGeom prst="rect">
            <a:avLst/>
          </a:prstGeom>
        </p:spPr>
      </p:pic>
      <p:sp>
        <p:nvSpPr>
          <p:cNvPr id="76" name="Text 32"/>
          <p:cNvSpPr/>
          <p:nvPr/>
        </p:nvSpPr>
        <p:spPr>
          <a:xfrm>
            <a:off x="1143000" y="8305800"/>
            <a:ext cx="11239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Result[3:0] = S3 S2 S1 S0   •   Carry ripples FA0 → FA3 → Cout   •   Yellow gates = XOR (Bi ⊕ M)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— SIMULATION RESULTS &amp; TRUTH TABLE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161925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Expected Results, Ready to Verify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62250"/>
            <a:ext cx="7810500" cy="533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52800"/>
            <a:ext cx="7810500" cy="1828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2500" y="2857500"/>
            <a:ext cx="7429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612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Input A       Op       Input B       Result       Decimal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952500" y="3352800"/>
            <a:ext cx="74295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0011          +       0010          0101         3+2=5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0101          +       0011          1000         5+3=8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0110          −       0010          0100         6−2=4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1000          −       0011          0101         8−3=5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62000" y="5524500"/>
            <a:ext cx="78105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0110 − 0010 → 0110 + 1101 + 1 = 1 0100. The 4-bit result is 0100; the final carry of 1 is discarded.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762250"/>
            <a:ext cx="4191000" cy="53340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352800"/>
            <a:ext cx="4191000" cy="3657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34500" y="2876550"/>
            <a:ext cx="381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612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  B   Cin   Sum   Cout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334500" y="3352800"/>
            <a:ext cx="3810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0   0    0     0     0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0   0    1     1     0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0   1    0     1     0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0   1    1     0     1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1   0    0     1     0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1   0    1     0     1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1   1    0     0     1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1   1    1     1     1</a:t>
            </a:r>
            <a:endParaRPr lang="en-US" sz="1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6500" y="2762250"/>
            <a:ext cx="3619500" cy="42481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192250" y="4191000"/>
            <a:ext cx="3048000" cy="103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actual Logisim Evolution simulation screenshot here</a:t>
            </a:r>
            <a:endParaRPr lang="en-US" sz="19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7620000"/>
            <a:ext cx="16764000" cy="1143000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7620000"/>
            <a:ext cx="95250" cy="11430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43000" y="7810500"/>
            <a:ext cx="161925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the mathematically expected outputs. Every result must be verified by running the implemented circuit in Logisim Evolution before final submission.</a:t>
            </a:r>
            <a:endParaRPr lang="en-US" sz="1950" dirty="0"/>
          </a:p>
        </p:txBody>
      </p:sp>
      <p:sp>
        <p:nvSpPr>
          <p:cNvPr id="18" name="Text 9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— CONCLUSION &amp; APPLICATIONS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161925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Gates to the Heart of a CPU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62000" y="2190750"/>
            <a:ext cx="8191500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 4-bit adder-subtractor from four full adders and XOR gates</a:t>
            </a:r>
            <a:endParaRPr lang="en-US" sz="195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how AND, OR and XOR gates combine to add and subtract binary numbers</a:t>
            </a:r>
            <a:endParaRPr lang="en-US" sz="195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two's complement so one circuit handles both operations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62000" y="4762500"/>
            <a:ext cx="819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5191125"/>
            <a:ext cx="81915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CPUs  •  ALUs  •  Calculators  •  Embedded Systems  •  Microcontrollers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2000" y="6191250"/>
            <a:ext cx="819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6619875"/>
            <a:ext cx="81915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DBE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AND, OR and XOR operations with an operation selector to create a simple ALU.</a:t>
            </a:r>
            <a:endParaRPr lang="en-US" sz="1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715500" y="2190750"/>
            <a:ext cx="7810500" cy="53340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0" y="2571750"/>
            <a:ext cx="4953000" cy="4572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87000" y="2714625"/>
            <a:ext cx="2857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</a:t>
            </a:r>
            <a:endParaRPr lang="en-US" sz="1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238500"/>
            <a:ext cx="4191000" cy="8572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77500" y="3495675"/>
            <a:ext cx="4191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Unit</a:t>
            </a:r>
            <a:endParaRPr lang="en-US" sz="1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0" y="4762500"/>
            <a:ext cx="1809750" cy="20002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477500" y="5572125"/>
            <a:ext cx="18097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Registers</a:t>
            </a:r>
            <a:endParaRPr lang="en-US" sz="1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8750" y="4762500"/>
            <a:ext cx="1809750" cy="20002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906375" y="5286375"/>
            <a:ext cx="1714500" cy="895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Adder / Subtractor</a:t>
            </a:r>
            <a:endParaRPr lang="en-US" sz="1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06300" y="5705475"/>
            <a:ext cx="533400" cy="15240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1000" y="3810000"/>
            <a:ext cx="1619250" cy="20955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5621000" y="4686300"/>
            <a:ext cx="16192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</a:t>
            </a:r>
            <a:endParaRPr lang="en-US" sz="19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68550" y="4800600"/>
            <a:ext cx="533400" cy="1524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5240000" y="6286500"/>
            <a:ext cx="219075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circuit lives inside the ALU</a:t>
            </a:r>
            <a:endParaRPr lang="en-US" sz="1500" dirty="0"/>
          </a:p>
        </p:txBody>
      </p:sp>
      <p:sp>
        <p:nvSpPr>
          <p:cNvPr id="23" name="Text 13"/>
          <p:cNvSpPr/>
          <p:nvPr/>
        </p:nvSpPr>
        <p:spPr>
          <a:xfrm>
            <a:off x="762000" y="7810500"/>
            <a:ext cx="1238250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11250" dirty="0"/>
          </a:p>
        </p:txBody>
      </p:sp>
      <p:sp>
        <p:nvSpPr>
          <p:cNvPr id="24" name="Text 14"/>
          <p:cNvSpPr/>
          <p:nvPr/>
        </p:nvSpPr>
        <p:spPr>
          <a:xfrm>
            <a:off x="9715500" y="8382000"/>
            <a:ext cx="6667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Questions welcome  •  1010 1011</a:t>
            </a:r>
            <a:endParaRPr lang="en-US" sz="1950" dirty="0"/>
          </a:p>
        </p:txBody>
      </p:sp>
      <p:sp>
        <p:nvSpPr>
          <p:cNvPr id="25" name="Text 15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030ecc7c-13f5-469c-9c16-c69ce865c767</dc:title>
  <dc:subject>Presentation Export</dc:subject>
  <dc:creator>Design Export</dc:creator>
  <cp:lastModifiedBy>Design Export</cp:lastModifiedBy>
  <cp:revision>1</cp:revision>
  <dcterms:created xsi:type="dcterms:W3CDTF">2026-10-15T07:39:42Z</dcterms:created>
  <dcterms:modified xsi:type="dcterms:W3CDTF">2026-10-15T07:39:42Z</dcterms:modified>
</cp:coreProperties>
</file>