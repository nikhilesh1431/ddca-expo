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jpe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8191500" y="0"/>
            <a:ext cx="100965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9" y="10"/>
            <a:ext cx="12382500" cy="10287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906000" y="6096000"/>
            <a:ext cx="8191500" cy="3238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5500" b="1" dirty="0">
                <a:solidFill>
                  <a:srgbClr val="22D3EE">
                    <a:alpha val="1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0101</a:t>
            </a:r>
            <a:endParaRPr lang="en-US" sz="25500" dirty="0"/>
          </a:p>
        </p:txBody>
      </p:sp>
      <p:sp>
        <p:nvSpPr>
          <p:cNvPr id="5" name="Text 1"/>
          <p:cNvSpPr/>
          <p:nvPr/>
        </p:nvSpPr>
        <p:spPr>
          <a:xfrm>
            <a:off x="5751338" y="1786071"/>
            <a:ext cx="95250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COMPUTER ORGANIZATION &amp; DIGITAL DESIGN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4651296" y="2958255"/>
            <a:ext cx="10830401" cy="21852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4-Bit Binary Arithmetic Calculator</a:t>
            </a:r>
            <a:endParaRPr lang="en-US" sz="8603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6505575"/>
            <a:ext cx="1524000" cy="476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37853" y="1047750"/>
            <a:ext cx="66675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A9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FIRST-YEAR ENGINEERING PROJECT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66750"/>
            <a:ext cx="7620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1 · 02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047750"/>
            <a:ext cx="152400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Introduction &amp; Objectives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000250"/>
            <a:ext cx="16002000" cy="190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2381250"/>
            <a:ext cx="7429500" cy="1247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digital circuit that adds, subtracts and compares two 4-bit numbers. Computers store everything as binary digits — 0 (low voltage) and 1 (high voltage).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1143000" y="4572000"/>
            <a:ext cx="7429500" cy="1276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Input: two 4-bit operands A, B + operation select</a:t>
            </a:r>
            <a:endParaRPr lang="en-US" sz="21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Processing: logic gates &amp; adders compute the result</a:t>
            </a:r>
            <a:endParaRPr lang="en-US" sz="21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Output: 4-bit result + carry / overflow flags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143000" y="6762750"/>
            <a:ext cx="74295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OBJECTIVES &amp; RELEVANCE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143000" y="7239000"/>
            <a:ext cx="7429500" cy="1704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an ALU from basic logic gates</a:t>
            </a:r>
            <a:endParaRPr lang="en-US" sz="21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how CPUs perform arithmetic</a:t>
            </a:r>
            <a:endParaRPr lang="en-US" sz="21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 for processors, calculators &amp; embedded chips</a:t>
            </a:r>
            <a:endParaRPr lang="en-US" sz="2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0" y="2381250"/>
            <a:ext cx="7620000" cy="685800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0" y="3238500"/>
            <a:ext cx="2286000" cy="1047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01250" y="340995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200000"/>
              </a:lnSpc>
              <a:buNone/>
            </a:pPr>
            <a:r>
              <a:rPr lang="en-US" sz="27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= 0101</a:t>
            </a:r>
            <a:endParaRPr lang="en-US" sz="27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0" y="6477000"/>
            <a:ext cx="2286000" cy="1047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01250" y="664845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200000"/>
              </a:lnSpc>
              <a:buNone/>
            </a:pPr>
            <a:r>
              <a:rPr lang="en-US" sz="27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 = 0011</a:t>
            </a:r>
            <a:endParaRPr lang="en-US" sz="27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00000">
            <a:off x="12287250" y="4133850"/>
            <a:ext cx="1524000" cy="152400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200000">
            <a:off x="12287250" y="6515100"/>
            <a:ext cx="1524000" cy="152400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06500" y="4191000"/>
            <a:ext cx="2762250" cy="238125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3906500" y="4762500"/>
            <a:ext cx="2762250" cy="781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0A162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Calculator Circuit (ALU)</a:t>
            </a:r>
            <a:endParaRPr lang="en-US" sz="2550" dirty="0"/>
          </a:p>
        </p:txBody>
      </p:sp>
      <p:sp>
        <p:nvSpPr>
          <p:cNvPr id="18" name="Text 9"/>
          <p:cNvSpPr/>
          <p:nvPr/>
        </p:nvSpPr>
        <p:spPr>
          <a:xfrm>
            <a:off x="13906500" y="6953250"/>
            <a:ext cx="276225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 = 1000</a:t>
            </a:r>
            <a:endParaRPr lang="en-US" sz="2400" dirty="0"/>
          </a:p>
        </p:txBody>
      </p:sp>
      <p:sp>
        <p:nvSpPr>
          <p:cNvPr id="19" name="Text 10"/>
          <p:cNvSpPr/>
          <p:nvPr/>
        </p:nvSpPr>
        <p:spPr>
          <a:xfrm>
            <a:off x="10001250" y="2667000"/>
            <a:ext cx="66675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A9B8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INPUT → PROCESS → OUTPUT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66750"/>
            <a:ext cx="7620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1 · 03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047750"/>
            <a:ext cx="152400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Number Systems &amp; Logic Gates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000250"/>
            <a:ext cx="16002000" cy="190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2381250"/>
            <a:ext cx="9525000" cy="1009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2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1010₂ = 10₁₀ = A₁₆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1143000" y="3714750"/>
            <a:ext cx="9525000" cy="1276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Binary (base 2): 1·8 + 0·4 + 1·2 + 0·1 = 10</a:t>
            </a:r>
            <a:endParaRPr lang="en-US" sz="21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Decimal (base 10): everyday counting</a:t>
            </a:r>
            <a:endParaRPr lang="en-US" sz="21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Hexadecimal (base 16): 0–9, A–F; one hex digit = 4 bits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143000" y="5715000"/>
            <a:ext cx="9525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BASIC LOGIC GATES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143000" y="6191250"/>
            <a:ext cx="9525000" cy="213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AND: 1 only if all inputs are 1</a:t>
            </a:r>
            <a:endParaRPr lang="en-US" sz="21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OR: 1 if any input is 1</a:t>
            </a:r>
            <a:endParaRPr lang="en-US" sz="21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NOT: inverts the input</a:t>
            </a:r>
            <a:endParaRPr lang="en-US" sz="21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NAND / NOR: inverted AND / OR</a:t>
            </a:r>
            <a:endParaRPr lang="en-US" sz="21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XOR: 1 if inputs differ  ·  XNOR: 1 if inputs match</a:t>
            </a:r>
            <a:endParaRPr lang="en-US" sz="2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381250"/>
            <a:ext cx="5715000" cy="70485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11000" y="2667000"/>
            <a:ext cx="4953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NAND IS UNIVERSAL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1811000" y="3143250"/>
            <a:ext cx="4953000" cy="2266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 B │ A NAND B │ A NAND A</a:t>
            </a:r>
            <a:endParaRPr lang="en-US" sz="2100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  0 │    1     │    1</a:t>
            </a:r>
            <a:endParaRPr lang="en-US" sz="2100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  1 │    1     │    1</a:t>
            </a:r>
            <a:endParaRPr lang="en-US" sz="2100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 0 │    1     │    0</a:t>
            </a:r>
            <a:endParaRPr lang="en-US" sz="2100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 1 │    0     │    0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11811000" y="6096000"/>
            <a:ext cx="4953000" cy="638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A9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NAND A = NOT A — so NAND can build NOT, AND and OR.</a:t>
            </a:r>
            <a:endParaRPr lang="en-US" sz="18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0" y="7239000"/>
            <a:ext cx="1524000" cy="152400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97100" y="7886700"/>
            <a:ext cx="228600" cy="228600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00" y="7620000"/>
            <a:ext cx="952500" cy="38100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2500" y="8382000"/>
            <a:ext cx="952500" cy="38100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25700" y="7943850"/>
            <a:ext cx="1143000" cy="15240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1811000" y="7334250"/>
            <a:ext cx="571500" cy="742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</a:t>
            </a:r>
            <a:endParaRPr lang="en-US" sz="1950" dirty="0"/>
          </a:p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66750"/>
            <a:ext cx="7620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2 · 04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047750"/>
            <a:ext cx="152400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Combinational Logic &amp; Arithmetic Circuits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000250"/>
            <a:ext cx="16002000" cy="190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2381250"/>
            <a:ext cx="7810500" cy="213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Half adder: Sum = A ⊕ B, Carry = A·B</a:t>
            </a:r>
            <a:endParaRPr lang="en-US" sz="21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adder: adds A, B and carry-in Cin</a:t>
            </a:r>
            <a:endParaRPr lang="en-US" sz="21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Ripple-carry: 4 full adders chained, each carry feeds the next</a:t>
            </a:r>
            <a:endParaRPr lang="en-US" sz="21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Subtraction: A − B = A + (NOT B) + 1 (two's complement)</a:t>
            </a:r>
            <a:endParaRPr lang="en-US" sz="2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524500"/>
            <a:ext cx="1524000" cy="114300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0" y="5524500"/>
            <a:ext cx="1524000" cy="114300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5524500"/>
            <a:ext cx="1524000" cy="1143000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0" y="5524500"/>
            <a:ext cx="1524000" cy="114300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1143000" y="5829300"/>
            <a:ext cx="78105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FA3        FA2        FA1        FA0</a:t>
            </a:r>
            <a:endParaRPr lang="en-US" sz="2550" dirty="0"/>
          </a:p>
        </p:txBody>
      </p:sp>
      <p:sp>
        <p:nvSpPr>
          <p:cNvPr id="11" name="Text 4"/>
          <p:cNvSpPr/>
          <p:nvPr/>
        </p:nvSpPr>
        <p:spPr>
          <a:xfrm>
            <a:off x="1143000" y="6858000"/>
            <a:ext cx="78105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A9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Carry ripples ← from FA0 to FA3. Cout = final carry-out.</a:t>
            </a:r>
            <a:endParaRPr lang="en-US" sz="18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7753350"/>
            <a:ext cx="7810500" cy="152400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0" y="2381250"/>
            <a:ext cx="7239000" cy="7048500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10382250" y="2667000"/>
            <a:ext cx="62865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WORKED EXAMPLE  (5 + 3 = 8)</a:t>
            </a:r>
            <a:endParaRPr lang="en-US" sz="1650" dirty="0"/>
          </a:p>
        </p:txBody>
      </p:sp>
      <p:sp>
        <p:nvSpPr>
          <p:cNvPr id="15" name="Text 6"/>
          <p:cNvSpPr/>
          <p:nvPr/>
        </p:nvSpPr>
        <p:spPr>
          <a:xfrm>
            <a:off x="10382250" y="3143250"/>
            <a:ext cx="62865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0101₂</a:t>
            </a:r>
            <a:endParaRPr lang="en-US" sz="4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+ 0011₂</a:t>
            </a:r>
            <a:endParaRPr lang="en-US" sz="4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1000₂</a:t>
            </a:r>
            <a:endParaRPr lang="en-US" sz="4800" dirty="0"/>
          </a:p>
        </p:txBody>
      </p:sp>
      <p:sp>
        <p:nvSpPr>
          <p:cNvPr id="16" name="Text 7"/>
          <p:cNvSpPr/>
          <p:nvPr/>
        </p:nvSpPr>
        <p:spPr>
          <a:xfrm>
            <a:off x="10382250" y="5905500"/>
            <a:ext cx="6286500" cy="2143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87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Carry-out = 0 → unsigned result 8 is correct</a:t>
            </a:r>
            <a:endParaRPr lang="en-US" sz="1875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87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Signed overflow = 1: +5 + +3 gives 1000 = −8, beyond the +7 limit</a:t>
            </a:r>
            <a:endParaRPr lang="en-US" sz="1875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87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Overflow occurs when two same-sign inputs give an opposite-sign result</a:t>
            </a:r>
            <a:endParaRPr lang="en-US" sz="1875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87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Subtract: 0101 − 0011 = 0101 + 1101 = 0010 (2)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66750"/>
            <a:ext cx="7620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2 · 05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047750"/>
            <a:ext cx="152400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Designing the 4-Bit ALU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000250"/>
            <a:ext cx="16002000" cy="190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2381250"/>
            <a:ext cx="7810500" cy="1809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ct val="17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ADD: A + B</a:t>
            </a:r>
            <a:endParaRPr lang="en-US" sz="2100" dirty="0"/>
          </a:p>
          <a:p>
            <a:pPr algn="l" marL="342900" indent="-342900">
              <a:lnSpc>
                <a:spcPct val="17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SUB: A − B (two's complement)</a:t>
            </a:r>
            <a:endParaRPr lang="en-US" sz="2100" dirty="0"/>
          </a:p>
          <a:p>
            <a:pPr algn="l" marL="342900" indent="-342900">
              <a:lnSpc>
                <a:spcPct val="17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/ OR / XOR: bitwise logic on each bit pair</a:t>
            </a:r>
            <a:endParaRPr lang="en-US" sz="2100" dirty="0"/>
          </a:p>
          <a:p>
            <a:pPr algn="l" marL="342900" indent="-342900">
              <a:lnSpc>
                <a:spcPct val="17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SLT: result = 0001 if A &lt; B (signed), else 0000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143000" y="6096000"/>
            <a:ext cx="78105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MULTIPLEXER &amp; CONTROL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143000" y="6572250"/>
            <a:ext cx="7810500" cy="1543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units compute in parallel. A 3-bit operation-select signal drives a multiplexer that passes only the chosen result to the output (e.g. 000 = ADD, 001 = SUB, 010 = AND, 011 = OR, 100 = XOR, 101 = SLT).</a:t>
            </a:r>
            <a:endParaRPr lang="en-US" sz="2025" dirty="0"/>
          </a:p>
        </p:txBody>
      </p:sp>
      <p:sp>
        <p:nvSpPr>
          <p:cNvPr id="8" name="Text 5"/>
          <p:cNvSpPr/>
          <p:nvPr/>
        </p:nvSpPr>
        <p:spPr>
          <a:xfrm>
            <a:off x="9906000" y="3810000"/>
            <a:ext cx="1524000" cy="742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A[3:0]</a:t>
            </a:r>
            <a:endParaRPr lang="en-US" sz="2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B[3:0]</a:t>
            </a:r>
            <a:endParaRPr lang="en-US" sz="2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3943350"/>
            <a:ext cx="1143000" cy="15240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5467350"/>
            <a:ext cx="1143000" cy="152400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3000" y="2857500"/>
            <a:ext cx="2857500" cy="38100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3239750" y="4429125"/>
            <a:ext cx="2095500" cy="638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0A162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ALU</a:t>
            </a:r>
            <a:endParaRPr lang="en-US" sz="42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30500" y="4705350"/>
            <a:ext cx="1047750" cy="1524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5240000" y="5048250"/>
            <a:ext cx="2095500" cy="638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Result[3:0]</a:t>
            </a:r>
            <a:endParaRPr lang="en-US" sz="1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Cout · V</a:t>
            </a:r>
            <a:endParaRPr lang="en-US" sz="18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13430250" y="6991350"/>
            <a:ext cx="952500" cy="1524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2192000" y="7715250"/>
            <a:ext cx="34290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 Select [2:0]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66750"/>
            <a:ext cx="7620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3 · 06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047750"/>
            <a:ext cx="152400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Sequential Logic &amp; Registers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000250"/>
            <a:ext cx="16002000" cy="1905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381250"/>
            <a:ext cx="7715250" cy="2190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24000" y="2667000"/>
            <a:ext cx="70485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Combinational: output depends only on current inputs — no memory (adders, ALU, MUX).</a:t>
            </a:r>
            <a:endParaRPr lang="en-US" sz="2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9750" y="2381250"/>
            <a:ext cx="7715250" cy="2190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810750" y="2667000"/>
            <a:ext cx="70485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Sequential: output depends on inputs AND stored state — has memory (flip-flops, registers).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1143000" y="5048250"/>
            <a:ext cx="7715250" cy="2990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 flip-flop: copies D to Q on the rising clock edge</a:t>
            </a:r>
            <a:endParaRPr lang="en-US" sz="21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Clock: timing signal that synchronizes updates</a:t>
            </a:r>
            <a:endParaRPr lang="en-US" sz="21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Reset: clears stored value to 0000</a:t>
            </a:r>
            <a:endParaRPr lang="en-US" sz="21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 is held until the next clock-enabled calculation or reset</a:t>
            </a:r>
            <a:endParaRPr lang="en-US" sz="21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Counters &amp; FSMs sequence steps — the basis of processor control</a:t>
            </a:r>
            <a:endParaRPr lang="en-US" sz="2100" dirty="0"/>
          </a:p>
        </p:txBody>
      </p:sp>
      <p:sp>
        <p:nvSpPr>
          <p:cNvPr id="10" name="Text 5"/>
          <p:cNvSpPr/>
          <p:nvPr/>
        </p:nvSpPr>
        <p:spPr>
          <a:xfrm>
            <a:off x="9429750" y="5143500"/>
            <a:ext cx="771525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4-BIT RESULT REGISTER</a:t>
            </a:r>
            <a:endParaRPr lang="en-US" sz="16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750" y="5715000"/>
            <a:ext cx="7620000" cy="17145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429750" y="6096000"/>
            <a:ext cx="7620000" cy="1647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1     0     0     0</a:t>
            </a:r>
            <a:endParaRPr lang="en-US" sz="5400" dirty="0"/>
          </a:p>
        </p:txBody>
      </p:sp>
      <p:sp>
        <p:nvSpPr>
          <p:cNvPr id="13" name="Text 7"/>
          <p:cNvSpPr/>
          <p:nvPr/>
        </p:nvSpPr>
        <p:spPr>
          <a:xfrm>
            <a:off x="9429750" y="7524750"/>
            <a:ext cx="76200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A9B8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Q3         Q2         Q1         Q0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9429750" y="8286750"/>
            <a:ext cx="7620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CLK ⎍⎍⎍⎍   ·   RST → 0000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66750"/>
            <a:ext cx="7620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4 · 07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047750"/>
            <a:ext cx="152400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Register File &amp; Memory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000250"/>
            <a:ext cx="16002000" cy="1905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571750"/>
            <a:ext cx="2857500" cy="952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43000" y="2819400"/>
            <a:ext cx="28575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 A</a:t>
            </a:r>
            <a:endParaRPr lang="en-US" sz="2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000500"/>
            <a:ext cx="2857500" cy="9525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43000" y="4248150"/>
            <a:ext cx="28575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 B</a:t>
            </a:r>
            <a:endParaRPr lang="en-US" sz="25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705225"/>
            <a:ext cx="1524000" cy="15240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4500" y="2857500"/>
            <a:ext cx="2286000" cy="180975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5524500" y="3429000"/>
            <a:ext cx="2286000" cy="590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900" b="1" dirty="0">
                <a:solidFill>
                  <a:srgbClr val="0A162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ALU</a:t>
            </a:r>
            <a:endParaRPr lang="en-US" sz="39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0" y="3705225"/>
            <a:ext cx="1143000" cy="152400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3500" y="3286125"/>
            <a:ext cx="2476500" cy="952500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8953500" y="3533775"/>
            <a:ext cx="24765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 Result</a:t>
            </a:r>
            <a:endParaRPr lang="en-US" sz="2250" dirty="0"/>
          </a:p>
        </p:txBody>
      </p:sp>
      <p:sp>
        <p:nvSpPr>
          <p:cNvPr id="15" name="Text 6"/>
          <p:cNvSpPr/>
          <p:nvPr/>
        </p:nvSpPr>
        <p:spPr>
          <a:xfrm>
            <a:off x="1143000" y="5334000"/>
            <a:ext cx="10287000" cy="714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A9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Operands are read from registers, processed by the ALU, and the result is written back on the clock edge.</a:t>
            </a:r>
            <a:endParaRPr lang="en-US" sz="1950" dirty="0"/>
          </a:p>
        </p:txBody>
      </p:sp>
      <p:sp>
        <p:nvSpPr>
          <p:cNvPr id="16" name="Text 7"/>
          <p:cNvSpPr/>
          <p:nvPr/>
        </p:nvSpPr>
        <p:spPr>
          <a:xfrm>
            <a:off x="1143000" y="6477000"/>
            <a:ext cx="10287000" cy="1704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 file: small, fast set of registers selected by number</a:t>
            </a:r>
            <a:endParaRPr lang="en-US" sz="21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RAM: read/write memory — each address holds stored data</a:t>
            </a:r>
            <a:endParaRPr lang="en-US" sz="21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ROM: read-only memory, e.g. fixed programs or lookup tables</a:t>
            </a:r>
            <a:endParaRPr lang="en-US" sz="21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 selects a location; data is the value stored there</a:t>
            </a:r>
            <a:endParaRPr lang="en-US" sz="210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92000" y="2571750"/>
            <a:ext cx="4953000" cy="314325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12573000" y="2857500"/>
            <a:ext cx="41910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IMPLEMENTED</a:t>
            </a:r>
            <a:endParaRPr lang="en-US" sz="2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Registers A, B and Result built from D flip-flops inside the calculator.</a:t>
            </a:r>
            <a:endParaRPr lang="en-US" sz="2100" dirty="0"/>
          </a:p>
        </p:txBody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92000" y="6096000"/>
            <a:ext cx="4953000" cy="3143250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12573000" y="6381750"/>
            <a:ext cx="4191000" cy="1200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A9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OPTIONAL EXTENSION</a:t>
            </a:r>
            <a:endParaRPr lang="en-US" sz="2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A9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RAM to save past results; ROM to store preset test operations.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66750"/>
            <a:ext cx="7620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5 · 08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047750"/>
            <a:ext cx="152400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Connection to the RISC-V Processor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000250"/>
            <a:ext cx="16002000" cy="190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2381250"/>
            <a:ext cx="7239000" cy="1276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Stored-program: instructions and data live in memory</a:t>
            </a:r>
            <a:endParaRPr lang="en-US" sz="21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ISA: the instruction set a CPU understands</a:t>
            </a:r>
            <a:endParaRPr lang="en-US" sz="21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Fetch → Decode → Execute, repeated each cycle</a:t>
            </a:r>
            <a:endParaRPr lang="en-US" sz="2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762500"/>
            <a:ext cx="7239000" cy="3143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24000" y="5000625"/>
            <a:ext cx="6667500" cy="2266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21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ADD → add rd, rs1, rs2</a:t>
            </a:r>
            <a:endParaRPr lang="en-US" sz="2100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21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SUB → sub rd, rs1, rs2</a:t>
            </a:r>
            <a:endParaRPr lang="en-US" sz="2100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21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AND → and rd, rs1, rs2</a:t>
            </a:r>
            <a:endParaRPr lang="en-US" sz="2100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21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  → or  rd, rs1, rs2</a:t>
            </a:r>
            <a:endParaRPr lang="en-US" sz="2100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21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SLT → slt rd, rs1, rs2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1143000" y="8191500"/>
            <a:ext cx="72390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b="1" dirty="0">
                <a:solidFill>
                  <a:srgbClr val="FBBF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ALU is a building block of a CPU — not a full RISC-V processor.</a:t>
            </a:r>
            <a:endParaRPr lang="en-US" sz="2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0" y="4000500"/>
            <a:ext cx="1428750" cy="1047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34500" y="4286250"/>
            <a:ext cx="142875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PC</a:t>
            </a:r>
            <a:endParaRPr lang="en-US" sz="2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0" y="4467225"/>
            <a:ext cx="476250" cy="152400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9500" y="3810000"/>
            <a:ext cx="1809750" cy="142875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239500" y="4143375"/>
            <a:ext cx="1809750" cy="590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Instruction Memory</a:t>
            </a:r>
            <a:endParaRPr lang="en-US" sz="18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49250" y="4467225"/>
            <a:ext cx="476250" cy="152400"/>
          </a:xfrm>
          <a:prstGeom prst="rect">
            <a:avLst/>
          </a:prstGeom>
        </p:spPr>
      </p:pic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25500" y="3810000"/>
            <a:ext cx="1619250" cy="142875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3525500" y="4143375"/>
            <a:ext cx="161925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 File</a:t>
            </a:r>
            <a:endParaRPr lang="en-US" sz="180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144750" y="4467225"/>
            <a:ext cx="476250" cy="152400"/>
          </a:xfrm>
          <a:prstGeom prst="rect">
            <a:avLst/>
          </a:prstGeom>
        </p:spPr>
      </p:pic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621000" y="3714750"/>
            <a:ext cx="1428750" cy="1619250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15859125" y="4286250"/>
            <a:ext cx="1143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0A162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ALU</a:t>
            </a:r>
            <a:endParaRPr lang="en-US" sz="2250" dirty="0"/>
          </a:p>
        </p:txBody>
      </p:sp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382500" y="6286500"/>
            <a:ext cx="3619500" cy="1047750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12382500" y="6572250"/>
            <a:ext cx="36195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Unit</a:t>
            </a:r>
            <a:endParaRPr lang="en-US" sz="2250" dirty="0"/>
          </a:p>
        </p:txBody>
      </p:sp>
      <p:pic>
        <p:nvPicPr>
          <p:cNvPr id="2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-5400000">
            <a:off x="13716000" y="5719763"/>
            <a:ext cx="952500" cy="114300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9334500" y="2762250"/>
            <a:ext cx="771525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A9B8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SIMPLIFIED SINGLE-CYCLE DATAPATH</a:t>
            </a:r>
            <a:endParaRPr lang="en-US" sz="1650" dirty="0"/>
          </a:p>
        </p:txBody>
      </p:sp>
      <p:sp>
        <p:nvSpPr>
          <p:cNvPr id="24" name="Text 11"/>
          <p:cNvSpPr/>
          <p:nvPr/>
        </p:nvSpPr>
        <p:spPr>
          <a:xfrm>
            <a:off x="9334500" y="7810500"/>
            <a:ext cx="7715250" cy="695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decodes the instruction and sets the ALU operation-select — the same signal our calculator uses.</a:t>
            </a:r>
            <a:endParaRPr lang="en-US" sz="18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66750"/>
            <a:ext cx="7620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6 · 09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047750"/>
            <a:ext cx="152400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Implementation, Testing &amp; Extensions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000250"/>
            <a:ext cx="16002000" cy="1905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381250"/>
            <a:ext cx="7810500" cy="12382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43000" y="2667000"/>
            <a:ext cx="78105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Inputs A,B   →    4-bit ALU    →   LED Display  →  Result Reg*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1143000" y="3762375"/>
            <a:ext cx="78105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A9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Op-select switches drive the ALU · *result storage is optional</a:t>
            </a:r>
            <a:endParaRPr lang="en-US" sz="16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381500"/>
            <a:ext cx="7810500" cy="48577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24000" y="4619625"/>
            <a:ext cx="72390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1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 OP    A     B     EXPECTED</a:t>
            </a:r>
            <a:endParaRPr lang="en-US" sz="2100" dirty="0"/>
          </a:p>
        </p:txBody>
      </p:sp>
      <p:sp>
        <p:nvSpPr>
          <p:cNvPr id="10" name="Text 5"/>
          <p:cNvSpPr/>
          <p:nvPr/>
        </p:nvSpPr>
        <p:spPr>
          <a:xfrm>
            <a:off x="1524000" y="5238750"/>
            <a:ext cx="7239000" cy="2962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 ADD   0101  0011  1000</a:t>
            </a:r>
            <a:endParaRPr lang="en-US" sz="2100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 SUB   0111  0010  0101</a:t>
            </a:r>
            <a:endParaRPr lang="en-US" sz="2100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 AND   1100  1010  1000</a:t>
            </a:r>
            <a:endParaRPr lang="en-US" sz="2100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 OR    1100  1010  1110</a:t>
            </a:r>
            <a:endParaRPr lang="en-US" sz="2100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  XOR   1100  1010  0110</a:t>
            </a:r>
            <a:endParaRPr lang="en-US" sz="2100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  SLT   0010  0101  0001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9906000" y="2381250"/>
            <a:ext cx="7239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SIMULATION TOOLS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9906000" y="2857500"/>
            <a:ext cx="7239000" cy="1200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and verified in Logisim Evolution or Digital — switches for inputs, LEDs for outputs, step-by-step clock.</a:t>
            </a:r>
            <a:endParaRPr lang="en-US" sz="2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0" y="4953000"/>
            <a:ext cx="7239000" cy="42862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287000" y="5238750"/>
            <a:ext cx="6477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OPTIONAL EXTENSIONS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10287000" y="5715000"/>
            <a:ext cx="6477000" cy="1809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ct val="17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operations: NOR, shift left/right</a:t>
            </a:r>
            <a:endParaRPr lang="en-US" sz="2100" dirty="0"/>
          </a:p>
          <a:p>
            <a:pPr algn="l" marL="342900" indent="-342900">
              <a:lnSpc>
                <a:spcPct val="17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Wider ALU: 8-bit or 16-bit operands</a:t>
            </a:r>
            <a:endParaRPr lang="en-US" sz="2100" dirty="0"/>
          </a:p>
          <a:p>
            <a:pPr algn="l" marL="342900" indent="-342900">
              <a:lnSpc>
                <a:spcPct val="17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Memory-mapped LED output</a:t>
            </a:r>
            <a:endParaRPr lang="en-US" sz="2100" dirty="0"/>
          </a:p>
          <a:p>
            <a:pPr algn="l" marL="342900" indent="-342900">
              <a:lnSpc>
                <a:spcPct val="17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and negative status flags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66750"/>
            <a:ext cx="7620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6 · 10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047750"/>
            <a:ext cx="152400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Conclusion &amp; Future Scope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000250"/>
            <a:ext cx="16002000" cy="190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2381250"/>
            <a:ext cx="8572500" cy="2200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Logic gates → adders → a complete 4-bit ALU</a:t>
            </a:r>
            <a:endParaRPr lang="en-US" sz="210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Registers and control signals link it to CPU architecture</a:t>
            </a:r>
            <a:endParaRPr lang="en-US" sz="210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ALU concept powers RISC-V cores and embedded systems</a:t>
            </a:r>
            <a:endParaRPr lang="en-US" sz="210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Future: 8-bit ALU, shifter, FSM control, FPGA build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143000" y="5905500"/>
            <a:ext cx="85725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REFERENCES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143000" y="6381750"/>
            <a:ext cx="8572500" cy="1343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1650" dirty="0">
                <a:solidFill>
                  <a:srgbClr val="A9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M. Morris Mano — Digital Design</a:t>
            </a:r>
            <a:endParaRPr lang="en-US" sz="165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1650" dirty="0">
                <a:solidFill>
                  <a:srgbClr val="A9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Harris &amp; Harris — Digital Design and Computer Architecture: RISC-V Edition</a:t>
            </a:r>
            <a:endParaRPr lang="en-US" sz="165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1650" dirty="0">
                <a:solidFill>
                  <a:srgbClr val="A9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Patterson &amp; Hennessy — Computer Organization and Design: RISC-V Edition</a:t>
            </a:r>
            <a:endParaRPr lang="en-US" sz="165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1650" dirty="0">
                <a:solidFill>
                  <a:srgbClr val="A9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Logisim Evolution documentation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0287000" y="3143250"/>
            <a:ext cx="723900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250" b="1" dirty="0">
                <a:solidFill>
                  <a:srgbClr val="22D3EE">
                    <a:alpha val="2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1111</a:t>
            </a:r>
            <a:endParaRPr lang="en-US" sz="11250" dirty="0"/>
          </a:p>
        </p:txBody>
      </p:sp>
      <p:sp>
        <p:nvSpPr>
          <p:cNvPr id="9" name="Text 6"/>
          <p:cNvSpPr/>
          <p:nvPr/>
        </p:nvSpPr>
        <p:spPr>
          <a:xfrm>
            <a:off x="10287000" y="4476750"/>
            <a:ext cx="723900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2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1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1000" y="7810500"/>
            <a:ext cx="1524000" cy="76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287000" y="8191500"/>
            <a:ext cx="68580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welcome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f5855c67-a900-4eaa-b6d6-07db6881cc79</dc:title>
  <dc:subject>Presentation Export</dc:subject>
  <dc:creator>Design Export</dc:creator>
  <cp:lastModifiedBy>Design Export</cp:lastModifiedBy>
  <cp:revision>1</cp:revision>
  <dcterms:created xsi:type="dcterms:W3CDTF">2026-10-14T15:52:44Z</dcterms:created>
  <dcterms:modified xsi:type="dcterms:W3CDTF">2026-10-14T15:52:44Z</dcterms:modified>
</cp:coreProperties>
</file>